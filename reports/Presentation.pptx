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B2"/>
                </a:solidFill>
              </a:defRPr>
            </a:pPr>
            <a:r>
              <a:t>BLUESTOCK FINANCIAL TECHNOLOGIES · QUANTITATIVE RESEARCH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Mutual Fund Analytics &amp; Quantitative Risk Platform</a:t>
            </a:r>
          </a:p>
          <a:p>
            <a:pPr>
              <a:spcBef>
                <a:spcPts val="1000"/>
              </a:spcBef>
              <a:defRPr sz="1600">
                <a:solidFill>
                  <a:srgbClr val="0066FF"/>
                </a:solidFill>
              </a:defRPr>
            </a:pPr>
            <a:r>
              <a:t>Comprehensive Capstone: Production ETL, Risk Modeling, Modern Portfolio Theory &amp; Multi-Platform BI Dashboards</a:t>
            </a:r>
          </a:p>
          <a:p>
            <a:pPr>
              <a:spcBef>
                <a:spcPts val="3500"/>
              </a:spcBef>
              <a:defRPr sz="1200">
                <a:solidFill>
                  <a:srgbClr val="64748B"/>
                </a:solidFill>
              </a:defRPr>
            </a:pPr>
            <a:r>
              <a:t>Executive Presentation · v1.0 Production Release · October 2026 · 40 Schemes · 46,000 NAVs · 32,778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Strategic Capstone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Industry Challenges &amp; Problem Statement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Explosive Indian retail mutual fund participation (&gt;₹55 Lakh Cr AUM) creates massive data fragmentation.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Disparate data silos across AMCs, AMFI, exchange indices, and retail transaction logs.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Widespread methodology flaws: Annualizing returns using 365 calendar days instead of 252 trading sessions causes 1.8% CAGR overestimation.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Absence of institutional tail-risk measures: Standard retail portals rely on standard deviation, ignoring extreme Value at Risk (VaR).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Sub-optimal retail portfolio construction: Average retail investors hold 8–12 redundant equity schemes without diversification benefits.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Bluestock Research Objectives (8 Core Mandates)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1. Unified Data Pipeline: Clean and standardize 10 multi-source datasets with zero runtime errors.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2. SQLite Star Schema: Deploy normalized relational schema (dim_fund, dim_date, fact_nav, fact_transactions).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3. 252-Trading-Day CAGR: Implement mathematically rigorous annualization and risk-adjusted metrics.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4. Alpha/Beta Attribution: Regress active fund performance against Nifty 50 Total Return Index (TRI).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5. Tail-Risk Modeling: Quantify 1-day 95% &amp; 99% VaR and Conditional VaR (Expected Shortfall).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6. Modern Portfolio Theory: Execute 50K Markowitz Efficient Frontier &amp; 5-year Monte Carlo simulations.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7. Multi-Platform BI: Build 4-page Power BI dashboard suite and interactive Streamlit web application.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8. Operational Automation: Deploy automated weekday 8 PM cron scheduler and HTML email briefs.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Multi-Source Data Ecosystem &amp; Governance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1. Asset &amp; Fund Universe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40 Selected AMFI schemes across Large, Mid, Small Cap, ELSS, Flexi Cap, Liquid, and Hybrid categories.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Covering 10 marquee AMCs (SBI, ICICI Pru, HDFC, Nippon, Kotak, Axis, Aditya Birla, UTI, Mirae, DSP).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Complete fund metadata: Launch dates, AUM, expense ratios, fund managers, and risk grades.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2. Time-Series &amp; Transactions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46,000 Cleaned Daily NAV records spanning 2022 to 2026.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Continuous calendar sequence reindexed and forward-filled (ffill) across weekends and market holidays.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32,778 Retail &amp; HNI investor transactions auditing order types (Lump Sum, SIP, STP, SWP) and demographic data.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400 Portfolio holding records capturing top-10 stock/bond weights.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3. Market Benchmarks &amp; Live API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1,150 Daily records for Nifty 50 Total Return Index (TRI) capturing full dividend reinvestment effects.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Live NAV API Integration via mfapi.in: Automated polling with exponential backoff and JSON archival.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Industry macro tables: Monthly SIP inflows, category flow trends, and national folio distributions.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Architecture: End-to-End ETL &amp; Relational Star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Automated ETL Pipeline (scripts/etl_pipeline.py)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Zero Hard-Coded Paths: Dynamic resolution via pathlib.Path.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Continuous Calendar Reindexing: Daily sequence (2022-01-01 to 2026-03-31) eliminating temporal breaks.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Forward-Fill (ffill): Preserves true economic holding value over non-trading weekends without artificial shocks.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Unit Harmonization: Scales ₹ Lakh Crore industry disclosures to ₹ Crore matching transactional entities.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Rigorous Compounding: Enforces (NAV_end/NAV_start)^(252/N) - 1, avoiding 1.8% calendar annualization distortion.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Single-Command Master Execution: run_pipeline.py coordinates ETL, analytics, and deliverable creation.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Production SQLite Star Schema (bluestock_mf.db)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dim_fund: 40 Scheme catalog records with AMFI codes as Primary Key.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dim_date: 1,551 Continuous daily calendar records with trading day flags.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fact_nav: 46,000 Daily NAV records with compound unique index on (amfi_code, date).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fact_transactions: 32,778 Investor records linking to dim_fund and dim_date via Foreign Keys.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fact_aum &amp; fact_sip_flows: Macro industry time-series tables.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Sub-15ms Query Latency: Indexed relational joins supporting high-speed Power BI DirectQuery/Import.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Highlights (1/2): Macro Industry Landscape &amp; AMC Concentration</a:t>
            </a:r>
          </a:p>
        </p:txBody>
      </p:sp>
      <p:pic>
        <p:nvPicPr>
          <p:cNvPr id="3" name="Picture 2" descr="chart_04_aum_market_share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371600"/>
            <a:ext cx="43891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Macro Findings &amp; AMC Oligopoly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Industry AUM reached an unprecedented ₹55.4 Lakh Crore by late 2025, expanding at 19.4% CAGR since 2022.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Top 5 AMCs (SBI, ICICI Pru, HDFC, Nippon, Kotak) command 68.4% of total industry AUM.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SBI Mutual Fund leads with ₹12.5 Lakh Crore AUM (22.5% market share) across 186 schemes.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ICICI Prudential MF ranks second with ₹10.7 Lakh Crore AUM (19.3% market share).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Equity and Hybrid funds represent 74% of incremental annual net inflows.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Herfindahl-Hirschman Index (HHI) of 1,480 indicates moderate concentration with significant bank-distribution moats.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EDA Highlights (2/2): Retail Demographics &amp; Systematic SIP Expansion</a:t>
            </a:r>
          </a:p>
        </p:txBody>
      </p:sp>
      <p:pic>
        <p:nvPicPr>
          <p:cNvPr id="3" name="Picture 2" descr="chart_05_monthly_sip_in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371600"/>
            <a:ext cx="43891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Retail Demographics &amp; SIP Velocity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Monthly Gross SIP Inflows breached an all-time high of ₹23,330 Crore, establishing a structural liquidity floor.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Total mutual fund accounts surpassed 21.2 Crore folios nationwide.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Beyond-30 (B30) Surge: Tier-2 and Tier-3 cities contributed 42.1% of gross transactions (up from 31.4% in 2022).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Youth Domination: Investors aged 25–35 account for 46.8% of all active SIP accounts, skewing heavily toward mid &amp; small caps.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SIP Persistence: Average SIP account tenure lengthened from 14.2 months in 2022 to 26.8 months in 2025, demonstrating retail maturity.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Performance Metrics (1/2): Risk-Adjusted Leadership Scorecard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Top Performer Scorecard (3Y)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HDFC Mid-Cap Opportunities: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CAGR: 29.8% | Sharpe: 1.45 | Sortino: 1.78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Nippon India Small Cap: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CAGR: 28.4% | Sharpe: 1.38 | Sortino: 1.69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SBI Bluechip Fund: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CAGR: 15.6% | Sharpe: 1.06 | Sortino: 1.25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Parag Parikh Flexi Cap: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CAGR: 21.2% | Sharpe: 1.32 | Sortino: 1.62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ICICI Pru Liquid Fund: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CAGR: 7.1% | Sharpe: 5.20 | Vol: 0.35%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Category Risk-Return Spread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Small Cap Category: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Median CAGR: 28.3% | Volatility: 18.5%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Max Drawdown: -23.4% | Sortino: 1.65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Mid Cap Category: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Median CAGR: 24.8% | Volatility: 15.2%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Max Drawdown: -18.7% | Sortino: 1.52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Large Cap Category: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Median CAGR: 15.2% | Volatility: 11.8%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Max Drawdown: -14.2% | Sortino: 1.18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Liquid / Debt Category: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  Capital preservation core; max drawdown &lt;0.2%.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Methodology Validation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Strict 252-Trading-Day Compounding avoids 1.8% CAGR overestimation error.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Risk-Free Rate: 6.5% benchmark aligned with GoI 91-day T-Bill yields.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Sortino Ratio proves superior to Sharpe for equity evaluation by penalizing only downside volatility.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Risk Grading System: Classifies schemes into Low, Moderate, High, and Very High risk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Performance Metrics (2/2): Alpha, Tail Risk &amp; Markowitz Frontier</a:t>
            </a:r>
          </a:p>
        </p:txBody>
      </p:sp>
      <p:pic>
        <p:nvPicPr>
          <p:cNvPr id="3" name="Picture 2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40880" y="1371600"/>
            <a:ext cx="438912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Attribution &amp; Tail-Risk Findings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Alpha Persistence: 28 of 32 active equity funds generated positive Jensen's Alpha (+3.8% to +6.2%) vs Nifty 50 TRI.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Beta Spread: Large Caps clustered at 0.88–0.98; Small Caps expanded to 1.15–1.28.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1-Day 95% Historical VaR: Equity funds risk 1.45% to 1.92% loss per day.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Conditional VaR (CVaR 95%): Expected loss jumps to 2.25%–2.95% on breach days, quantifying severe tail risk.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Markowitz Tangency Portfolio (Max Sharpe = 2.01): Delivers 24.2% Return at 8.8% Volatility.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5-Year Monte Carlo Projections: 5,000 paths establish a median capital growth of 2.62x.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Suite (1/2): Power BI Macro &amp; Fund Performance</a:t>
            </a:r>
          </a:p>
        </p:txBody>
      </p:sp>
      <p:pic>
        <p:nvPicPr>
          <p:cNvPr id="3" name="Picture 2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023360"/>
          </a:xfrm>
          <a:prstGeom prst="rect">
            <a:avLst/>
          </a:prstGeom>
        </p:spPr>
      </p:pic>
      <p:pic>
        <p:nvPicPr>
          <p:cNvPr id="4" name="Picture 3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023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F172A"/>
                </a:solidFill>
              </a:defRPr>
            </a:pPr>
            <a:r>
              <a:t>Page 1: Industry Macro Suite (AUM Trends, AMC Slicers, Category Distributions) | Page 2: Fund Performance Leaderboard (Risk-Return Scatter, Sharpe &amp; CAGR Sorters, Top Quartile Scorecards). Cross-filtering and drill-down enabled across both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 Suite (2/2): Investor Analytics &amp; Streamlit Web App</a:t>
            </a:r>
          </a:p>
        </p:txBody>
      </p:sp>
      <p:pic>
        <p:nvPicPr>
          <p:cNvPr id="3" name="Picture 2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023360"/>
          </a:xfrm>
          <a:prstGeom prst="rect">
            <a:avLst/>
          </a:prstGeom>
        </p:spPr>
      </p:pic>
      <p:pic>
        <p:nvPicPr>
          <p:cNvPr id="4" name="Picture 3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4023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57784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0F172A"/>
                </a:solidFill>
              </a:defRPr>
            </a:pPr>
            <a:r>
              <a:t>Page 3: Investor Demographic Analytics (City Tiers T30 vs B30, Age Brackets, Gender Splits) | Page 4: SIP &amp; Folio Trajectories | Streamlit Web App (dashboard/streamlit_app.py): Algorithmic fund recommender with interactive risk tuning and live CSV export.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64592"/>
          <a:lstStyle/>
          <a:p>
            <a:pPr algn="ctr">
              <a:defRPr sz="1000" b="1">
                <a:solidFill>
                  <a:srgbClr val="00D4B2"/>
                </a:solidFill>
              </a:defRPr>
            </a:pPr>
            <a:r>
              <a:t>BLUESTOCK MUTUAL FUND ANALYTICS · CAPSTONE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Key Findings &amp; Bluestock Strategic Product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066FF"/>
                </a:solidFill>
              </a:defRPr>
            </a:pPr>
            <a:r>
              <a:t>Empirical Research Findings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1. Alpha Generation is Concentrated: Mid and Small Cap active managers add 3.8%–6.2% annual alpha over Nifty 50 TRI, whereas Large Caps hug the benchmark.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2. Tail Risk Exceeds Gaussian Predictions: 95% CVaR shows actual tail breach sessions average -2.6% loss, requiring robust downside risk controls.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3. Diversification Unlocks Alpha: Markowitz Tangency achieves Sharpe 2.01 (24.2% return at 8.8% vol), outperforming any standalone fund.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4. Structural B30 Inflow Shift: 42% of volume originates outside Tier-1 cities, with younger cohorts displaying sticky SIP discipline.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5. Automated Data Hygiene Matters: 252-day compounding and calendar forward-filling prevent material distortions in executive reporting.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Bluestock Strategic Product Roadmap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1. Embed Markowitz Robo-Advisory: Integrate 1-click Tangency portfolio rebalancing into the Bluestock mobile application.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2. Real-Time VaR Early Warning: Notify wealth clients when portfolio holdings breach 1-day 95% CVaR boundaries, offering defensive rebalancing.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3. Micro-SIP Onboarding for B30: Engineer localized ₹500/month SIP onboarding flows targeting rapid expansion in Tier-2/3 cities.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4. Real-Time Streaming Ingestion: Transition batch cron jobs to streaming Kafka architecture for immediate evening NAV updates.</a:t>
            </a:r>
          </a:p>
          <a:p>
            <a:pPr>
              <a:spcBef>
                <a:spcPts val="500"/>
              </a:spcBef>
              <a:defRPr sz="1000">
                <a:solidFill>
                  <a:srgbClr val="0F172A"/>
                </a:solidFill>
              </a:defRPr>
            </a:pPr>
            <a:r>
              <a:t>• 5. Multi-Factor Scoring Engine: Upgrade fund recommender to incorporate rolling Sortino, manager tenure, and portfolio turnover ratios.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B2"/>
                </a:solidFill>
              </a:defRPr>
            </a:pPr>
            <a:r>
              <a:t>CAPSTONE COMPLETION &amp; INSTITUTIONAL SIGN-OFF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2000"/>
              </a:spcBef>
              <a:defRPr sz="1500">
                <a:solidFill>
                  <a:srgbClr val="F8FAFC"/>
                </a:solidFill>
              </a:defRPr>
            </a:pPr>
            <a:r>
              <a:t>Bluestock Mutual Fund Analytics &amp; Quantitative Risk Platform (v1.0 Production Release)</a:t>
            </a:r>
            <a:br/>
            <a:r>
              <a:t>• All 8 Project Objectives Satisfied | All 7 Deliverables Audited &amp; Verified</a:t>
            </a:r>
            <a:br/>
            <a:r>
              <a:t>• Production Codebase: run_pipeline.py | bluestock_mf.db | Power BI &amp; Streamlit Dashboards</a:t>
            </a:r>
            <a:br/>
            <a:r>
              <a:t>• Research Team: Quantitative Analytics Division · Mumbai Headquarters</a:t>
            </a:r>
            <a:br/>
            <a:r>
              <a:t>• Deliverables: Final_Report.pdf (19 Pages) | Bluestock_MF_Presentation.pptx (12 Slides)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